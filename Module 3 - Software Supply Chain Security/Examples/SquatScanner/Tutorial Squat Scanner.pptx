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911" r:id="rId3"/>
    <p:sldId id="913" r:id="rId4"/>
    <p:sldId id="937" r:id="rId5"/>
    <p:sldId id="912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3E4B17-3985-19D4-685A-AC021FEE40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4A9BED7-F43F-2137-D629-041382624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897E9E-347A-4A83-452C-8D708AD0C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737A9-BC85-5D4A-99FB-A00BB748DBB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2E13CD3-3E7F-C4FA-45B9-0FAE57EEC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5F76FF7-7351-7D1C-8595-99584A8B3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7F1F-3FE7-074F-BFA3-666B4CF3DC1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4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43E32D-9956-2AC6-1211-BDC7F7F66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4071FA-395C-97A5-7663-3AF4F198A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C9E21A8-A4B7-2971-2A74-D482D1A0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737A9-BC85-5D4A-99FB-A00BB748DBB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9463E6-AF8D-5677-522B-2F272CC0B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AA0D85-2306-2138-F612-3126AE45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7F1F-3FE7-074F-BFA3-666B4CF3DC1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2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2486BE-3439-D2EC-E879-68F63613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482C651-CD44-8E7B-7CC8-B61E3140C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B72DD20-E549-C9DE-C584-8CFDE439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737A9-BC85-5D4A-99FB-A00BB748DBB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984D8FC-88B1-575A-E8F7-0A181FAF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2CC68A1-CA04-8099-A28A-9A6BBD91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7F1F-3FE7-074F-BFA3-666B4CF3DC1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820560-856D-C74D-FAE0-B1DBF78B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92182F-9A9D-C4B6-2C0B-CFB6B9E5B1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48F708E-896A-333D-8A36-26CA9AB39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D850F0C-90D8-9436-991F-7C759CF5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737A9-BC85-5D4A-99FB-A00BB748DBB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BDC91C8-67B8-4DCE-2222-3327A9EF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6834E3A-02F0-91CF-C80A-7E6D6A9C0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7F1F-3FE7-074F-BFA3-666B4CF3DC1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7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A6DC87-0ADB-A495-E592-43C463FFB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FE1331-9696-2ACC-1037-0B01007DC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57CF93C-7323-B8B2-D21C-CCA3AF0BA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10D8CEF-725E-E83F-D3AD-C3E377A32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152550C-0493-15EB-0FA2-E44D39BF19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DA5B57A-8B9C-B035-0A29-3DF387D91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737A9-BC85-5D4A-99FB-A00BB748DBB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A4712FD-6F79-59DC-AE99-4EF789F95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E0E32D5-70C9-5CA6-926A-FBFE8779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7F1F-3FE7-074F-BFA3-666B4CF3DC1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4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252AE4-A8DD-0C3E-29A1-3BF93DAE9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6B49D89-FC17-D86F-94D8-DA546F2C3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737A9-BC85-5D4A-99FB-A00BB748DBB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EB4F4F3-A733-58D8-1D62-63D797DD7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B8EFE45-4FFF-9CA8-2E9C-A79D1BBD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7F1F-3FE7-074F-BFA3-666B4CF3DC1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43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36DD66C-DA42-8B55-3BEE-4B5B11C7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737A9-BC85-5D4A-99FB-A00BB748DBB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567BB59-9A89-8435-83BD-34D612255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6A20E84-E255-D5BE-B1B3-DB557D53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7F1F-3FE7-074F-BFA3-666B4CF3DC1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98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78A607-93FE-386D-ED56-AF3BAADF1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BA299D-A0ED-FCB3-4C04-1CEAC9279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CCECAD2-610B-D7BA-58ED-2C1E181B9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0DF6EE6-AD6A-7293-8321-09CF03FE9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737A9-BC85-5D4A-99FB-A00BB748DBB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D6E3AF3-03D0-B920-2BEE-5233A416B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F312366-EBB4-CE04-1BFD-EBCCB2886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7F1F-3FE7-074F-BFA3-666B4CF3DC1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35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C88F34-E7C6-E8B9-4AB2-EE9CD0A48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BA376C9-3C65-A3C9-6178-31B172B92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835BF03-8780-35B2-6378-C6E26A5E8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1F66E82-B7C5-D986-0AE8-8C067B212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737A9-BC85-5D4A-99FB-A00BB748DBB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D766478-22B9-6384-1C12-FCF85910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C98CAF7-DE36-5111-307B-8219143BE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7F1F-3FE7-074F-BFA3-666B4CF3DC1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86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AE9EAC-0BD0-FE99-27BD-9F155B895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C099C89-3E04-43FD-0DE1-A02B41432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62DE66-5EF7-632D-2B0F-62B6452D0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737A9-BC85-5D4A-99FB-A00BB748DBB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A23DDE-2319-D39E-7EDA-59C922812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A91649-723B-432D-9DCD-39D27B429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7F1F-3FE7-074F-BFA3-666B4CF3DC1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22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73B1D73-CFFF-FCE6-0B90-1325463CA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919D07-2576-ED5B-A832-81E69E5A9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82DF1D-1CA9-7D95-CFB7-A5DE32076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737A9-BC85-5D4A-99FB-A00BB748DBB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B53BB3-9029-74FF-20BF-740E1E156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B99AC0-1A8D-0CD5-B79F-20C2035C6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C7F1F-3FE7-074F-BFA3-666B4CF3DC1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4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884988-6DF1-A72B-39AA-1D64B07E7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3CB81E8-BC16-81AA-4CE0-339D1DD89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ED144A9-0DD3-9011-F1E5-E2FEA3B1A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9737A9-BC85-5D4A-99FB-A00BB748DBBE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4B8AF7-0910-6573-7EFE-DBB7DC15B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9C9987-5D4C-6227-6E20-7D50173BC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C7F1F-3FE7-074F-BFA3-666B4CF3DC1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1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EED767-95E7-CDFF-1781-0C509C9EC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032" y="1087395"/>
            <a:ext cx="9695935" cy="1118286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Tutorial: Squat Scanner</a:t>
            </a:r>
            <a:br>
              <a:rPr lang="en-US" dirty="0"/>
            </a:br>
            <a:r>
              <a:rPr lang="en-US" sz="2200" dirty="0"/>
              <a:t>Foundations of Cybersecurity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5B27C1E-59FC-F030-6791-2392CA0A1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78719"/>
            <a:ext cx="9144000" cy="1842407"/>
          </a:xfrm>
        </p:spPr>
        <p:txBody>
          <a:bodyPr>
            <a:normAutofit/>
          </a:bodyPr>
          <a:lstStyle/>
          <a:p>
            <a:r>
              <a:rPr lang="en-US" dirty="0"/>
              <a:t>Giacomo Benedetti</a:t>
            </a:r>
          </a:p>
          <a:p>
            <a:r>
              <a:rPr lang="en-US" dirty="0"/>
              <a:t>Institute for Applied Mathematics and Information Technologies</a:t>
            </a:r>
          </a:p>
          <a:p>
            <a:r>
              <a:rPr lang="en-US" dirty="0"/>
              <a:t>National Research Council of Italy</a:t>
            </a:r>
          </a:p>
          <a:p>
            <a:r>
              <a:rPr lang="en-US" dirty="0" err="1"/>
              <a:t>giacomo.benedetti@ge.imati.cnr.it</a:t>
            </a:r>
            <a:endParaRPr lang="en-US" dirty="0"/>
          </a:p>
          <a:p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FC2C612-A7E0-E069-4C32-49797A8B1AB8}"/>
              </a:ext>
            </a:extLst>
          </p:cNvPr>
          <p:cNvSpPr txBox="1"/>
          <p:nvPr/>
        </p:nvSpPr>
        <p:spPr>
          <a:xfrm>
            <a:off x="1816783" y="6488668"/>
            <a:ext cx="8558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University of Pavia – Department of Electrical, Computer and Biomedical Engineering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A39E7FF-4A2A-D142-A503-2549417DD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7895"/>
            <a:ext cx="1961635" cy="65132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A30EFFA-C13E-A7D8-4C9F-DCD6BEA7B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3069" y="48031"/>
            <a:ext cx="1607547" cy="62865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25FA34C-A37D-0F82-5BB8-63FEC8FC4E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-1" y="4394164"/>
            <a:ext cx="12192000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760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925F-6AF0-5EBA-D400-481261D33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Names Similarity: Is it Common?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2A0628-76E3-A695-7455-B13E103C8C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59" t="5324" r="5801" b="5324"/>
          <a:stretch>
            <a:fillRect/>
          </a:stretch>
        </p:blipFill>
        <p:spPr>
          <a:xfrm>
            <a:off x="7141576" y="1480929"/>
            <a:ext cx="4421821" cy="537707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AA8D9-37C2-37DF-50C0-F0394DE01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940287" cy="46672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This example contains a small </a:t>
            </a:r>
            <a:r>
              <a:rPr lang="en-US" dirty="0" err="1"/>
              <a:t>fuzzer</a:t>
            </a:r>
            <a:r>
              <a:rPr lang="en-US" dirty="0"/>
              <a:t> for testing the presence of </a:t>
            </a:r>
            <a:r>
              <a:rPr lang="en-US" dirty="0" err="1"/>
              <a:t>typosquatted</a:t>
            </a:r>
            <a:r>
              <a:rPr lang="en-US" dirty="0"/>
              <a:t> packages.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/>
              <a:t>generating package names</a:t>
            </a:r>
          </a:p>
          <a:p>
            <a:pPr lvl="1"/>
            <a:r>
              <a:rPr lang="en-US" dirty="0"/>
              <a:t>try to retrieve them to check whether they exist</a:t>
            </a:r>
          </a:p>
          <a:p>
            <a:pPr lvl="1"/>
            <a:r>
              <a:rPr lang="en-US" dirty="0"/>
              <a:t>if yes, inspect collected output.</a:t>
            </a:r>
          </a:p>
        </p:txBody>
      </p:sp>
    </p:spTree>
    <p:extLst>
      <p:ext uri="{BB962C8B-B14F-4D97-AF65-F5344CB8AC3E}">
        <p14:creationId xmlns:p14="http://schemas.microsoft.com/office/powerpoint/2010/main" val="2968868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0C177-D751-95DB-641B-118826FEB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9ACE5-A0B2-80C6-4ABB-4D10C180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Names Similarity: Is it Common?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1508DF-81D3-A879-167C-5659C3C6B6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59" t="15069" r="5801" b="66433"/>
          <a:stretch>
            <a:fillRect/>
          </a:stretch>
        </p:blipFill>
        <p:spPr>
          <a:xfrm>
            <a:off x="608205" y="2494721"/>
            <a:ext cx="10975590" cy="2763079"/>
          </a:xfrm>
          <a:prstGeom prst="rect">
            <a:avLst/>
          </a:prstGeom>
        </p:spPr>
      </p:pic>
      <p:sp>
        <p:nvSpPr>
          <p:cNvPr id="3" name="Right Bracket 2">
            <a:extLst>
              <a:ext uri="{FF2B5EF4-FFF2-40B4-BE49-F238E27FC236}">
                <a16:creationId xmlns:a16="http://schemas.microsoft.com/office/drawing/2014/main" id="{317EB97F-AB14-672E-D7E7-9CE5543C462D}"/>
              </a:ext>
            </a:extLst>
          </p:cNvPr>
          <p:cNvSpPr/>
          <p:nvPr/>
        </p:nvSpPr>
        <p:spPr>
          <a:xfrm rot="5400000">
            <a:off x="4810539" y="3309734"/>
            <a:ext cx="84483" cy="3215308"/>
          </a:xfrm>
          <a:prstGeom prst="rightBracke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ight Bracket 3">
            <a:extLst>
              <a:ext uri="{FF2B5EF4-FFF2-40B4-BE49-F238E27FC236}">
                <a16:creationId xmlns:a16="http://schemas.microsoft.com/office/drawing/2014/main" id="{77741904-528C-B384-E676-69C9B9A967EF}"/>
              </a:ext>
            </a:extLst>
          </p:cNvPr>
          <p:cNvSpPr/>
          <p:nvPr/>
        </p:nvSpPr>
        <p:spPr>
          <a:xfrm rot="5400000">
            <a:off x="8213035" y="3309735"/>
            <a:ext cx="84483" cy="3215308"/>
          </a:xfrm>
          <a:prstGeom prst="rightBracke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B9555-CCED-3D65-13E9-95D661DD21D8}"/>
              </a:ext>
            </a:extLst>
          </p:cNvPr>
          <p:cNvSpPr txBox="1"/>
          <p:nvPr/>
        </p:nvSpPr>
        <p:spPr>
          <a:xfrm>
            <a:off x="4144618" y="5877167"/>
            <a:ext cx="141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substitution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496C06-2CAB-B149-A18B-C6CDFDAE46D1}"/>
              </a:ext>
            </a:extLst>
          </p:cNvPr>
          <p:cNvSpPr txBox="1"/>
          <p:nvPr/>
        </p:nvSpPr>
        <p:spPr>
          <a:xfrm>
            <a:off x="7547114" y="5877167"/>
            <a:ext cx="141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insertion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86ADB1-A4C6-9310-962F-C67295DB889D}"/>
              </a:ext>
            </a:extLst>
          </p:cNvPr>
          <p:cNvCxnSpPr>
            <a:stCxn id="5" idx="0"/>
            <a:endCxn id="3" idx="2"/>
          </p:cNvCxnSpPr>
          <p:nvPr/>
        </p:nvCxnSpPr>
        <p:spPr>
          <a:xfrm flipV="1">
            <a:off x="4852781" y="4959630"/>
            <a:ext cx="0" cy="91753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06B9EA-B05C-EB49-BDD4-05537F74BDE4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8255277" y="4959631"/>
            <a:ext cx="0" cy="91753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336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3FEA8-2F88-290A-6123-A18071129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C7CDC-7311-4BFC-B1F0-F96468D1D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Names Similarity: Is it Common?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6C6A63-CCCC-3C3C-AEAA-3E40DBAE84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59" t="15069" r="5801" b="66433"/>
          <a:stretch>
            <a:fillRect/>
          </a:stretch>
        </p:blipFill>
        <p:spPr>
          <a:xfrm>
            <a:off x="608205" y="2494721"/>
            <a:ext cx="10975590" cy="2763079"/>
          </a:xfrm>
          <a:prstGeom prst="rect">
            <a:avLst/>
          </a:prstGeom>
        </p:spPr>
      </p:pic>
      <p:sp>
        <p:nvSpPr>
          <p:cNvPr id="3" name="Right Bracket 2">
            <a:extLst>
              <a:ext uri="{FF2B5EF4-FFF2-40B4-BE49-F238E27FC236}">
                <a16:creationId xmlns:a16="http://schemas.microsoft.com/office/drawing/2014/main" id="{352684D6-FFCD-B2F3-0CA9-E250A8871E61}"/>
              </a:ext>
            </a:extLst>
          </p:cNvPr>
          <p:cNvSpPr/>
          <p:nvPr/>
        </p:nvSpPr>
        <p:spPr>
          <a:xfrm rot="5400000">
            <a:off x="4810539" y="3309734"/>
            <a:ext cx="84483" cy="3215308"/>
          </a:xfrm>
          <a:prstGeom prst="rightBracke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ight Bracket 3">
            <a:extLst>
              <a:ext uri="{FF2B5EF4-FFF2-40B4-BE49-F238E27FC236}">
                <a16:creationId xmlns:a16="http://schemas.microsoft.com/office/drawing/2014/main" id="{EC71DA9E-97A6-23A1-70B6-3CC4C3F3243B}"/>
              </a:ext>
            </a:extLst>
          </p:cNvPr>
          <p:cNvSpPr/>
          <p:nvPr/>
        </p:nvSpPr>
        <p:spPr>
          <a:xfrm rot="5400000">
            <a:off x="8213035" y="3309735"/>
            <a:ext cx="84483" cy="3215308"/>
          </a:xfrm>
          <a:prstGeom prst="rightBracke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40CEC2-92FD-D6D7-4B84-7A9BA5FCCA52}"/>
              </a:ext>
            </a:extLst>
          </p:cNvPr>
          <p:cNvSpPr txBox="1"/>
          <p:nvPr/>
        </p:nvSpPr>
        <p:spPr>
          <a:xfrm>
            <a:off x="4144618" y="5877167"/>
            <a:ext cx="141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substitution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94F72-F8BE-321E-30B5-EAA8FD6E9396}"/>
              </a:ext>
            </a:extLst>
          </p:cNvPr>
          <p:cNvSpPr txBox="1"/>
          <p:nvPr/>
        </p:nvSpPr>
        <p:spPr>
          <a:xfrm>
            <a:off x="7547114" y="5877167"/>
            <a:ext cx="141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insertion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93C935-82D7-79AE-AA7C-25B1E4A07C16}"/>
              </a:ext>
            </a:extLst>
          </p:cNvPr>
          <p:cNvCxnSpPr>
            <a:stCxn id="5" idx="0"/>
            <a:endCxn id="3" idx="2"/>
          </p:cNvCxnSpPr>
          <p:nvPr/>
        </p:nvCxnSpPr>
        <p:spPr>
          <a:xfrm flipV="1">
            <a:off x="4852781" y="4959630"/>
            <a:ext cx="0" cy="91753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17F18B-51DE-3CD8-87E0-9FE2BE82BA48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8255277" y="4959631"/>
            <a:ext cx="0" cy="91753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8F0F5A9-2FF5-3029-0728-19B71B302905}"/>
              </a:ext>
            </a:extLst>
          </p:cNvPr>
          <p:cNvSpPr txBox="1"/>
          <p:nvPr/>
        </p:nvSpPr>
        <p:spPr>
          <a:xfrm>
            <a:off x="2955236" y="1815705"/>
            <a:ext cx="141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pandas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DB128-A0C2-6A29-DB0D-60D927A8C2E0}"/>
              </a:ext>
            </a:extLst>
          </p:cNvPr>
          <p:cNvSpPr txBox="1"/>
          <p:nvPr/>
        </p:nvSpPr>
        <p:spPr>
          <a:xfrm>
            <a:off x="4144618" y="6435342"/>
            <a:ext cx="141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pabdas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56A68-8A0D-A00F-1C4B-4968AC310279}"/>
              </a:ext>
            </a:extLst>
          </p:cNvPr>
          <p:cNvSpPr txBox="1"/>
          <p:nvPr/>
        </p:nvSpPr>
        <p:spPr>
          <a:xfrm>
            <a:off x="7547113" y="6435342"/>
            <a:ext cx="141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panbdas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54FB4C-4686-3475-7A49-55D9070BC5EA}"/>
              </a:ext>
            </a:extLst>
          </p:cNvPr>
          <p:cNvCxnSpPr>
            <a:cxnSpLocks/>
          </p:cNvCxnSpPr>
          <p:nvPr/>
        </p:nvCxnSpPr>
        <p:spPr>
          <a:xfrm>
            <a:off x="3663399" y="2125403"/>
            <a:ext cx="0" cy="3096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CB607F-A6F9-FB97-8621-45731BBA752D}"/>
              </a:ext>
            </a:extLst>
          </p:cNvPr>
          <p:cNvCxnSpPr>
            <a:cxnSpLocks/>
          </p:cNvCxnSpPr>
          <p:nvPr/>
        </p:nvCxnSpPr>
        <p:spPr>
          <a:xfrm>
            <a:off x="4852780" y="6195231"/>
            <a:ext cx="0" cy="3096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1BA9C0-D58E-6A3F-5A6E-C5466BA4CB34}"/>
              </a:ext>
            </a:extLst>
          </p:cNvPr>
          <p:cNvCxnSpPr>
            <a:cxnSpLocks/>
          </p:cNvCxnSpPr>
          <p:nvPr/>
        </p:nvCxnSpPr>
        <p:spPr>
          <a:xfrm>
            <a:off x="8255276" y="6195231"/>
            <a:ext cx="0" cy="3096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16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F63AF-A087-9C9F-0F95-7E4B60C27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79A4D-26C5-2F76-2DBB-BC34A768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Names Similarity: Is it Common?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D43135-FFEA-D73C-E412-3D748C8A79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11" t="5324" r="8467" b="5324"/>
          <a:stretch>
            <a:fillRect/>
          </a:stretch>
        </p:blipFill>
        <p:spPr>
          <a:xfrm>
            <a:off x="8046266" y="1401418"/>
            <a:ext cx="3069982" cy="5377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F8E66A-186A-35F9-B61D-BF3C238603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59" t="5324" r="5801" b="5324"/>
          <a:stretch>
            <a:fillRect/>
          </a:stretch>
        </p:blipFill>
        <p:spPr>
          <a:xfrm>
            <a:off x="2609332" y="1401417"/>
            <a:ext cx="4421821" cy="53770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A07F01-52C5-1BF8-4D6F-600EE333C532}"/>
              </a:ext>
            </a:extLst>
          </p:cNvPr>
          <p:cNvSpPr txBox="1"/>
          <p:nvPr/>
        </p:nvSpPr>
        <p:spPr>
          <a:xfrm>
            <a:off x="457824" y="3905287"/>
            <a:ext cx="1265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pandas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F3DC88-12B1-859D-8011-51A3D11AC2DA}"/>
              </a:ext>
            </a:extLst>
          </p:cNvPr>
          <p:cNvCxnSpPr>
            <a:cxnSpLocks/>
          </p:cNvCxnSpPr>
          <p:nvPr/>
        </p:nvCxnSpPr>
        <p:spPr>
          <a:xfrm>
            <a:off x="1723766" y="4104862"/>
            <a:ext cx="88556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10CF06-C389-EEEB-843C-760FD95CBC91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7031153" y="4089953"/>
            <a:ext cx="10151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4363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120</Words>
  <Application>Microsoft Macintosh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Tema di Office</vt:lpstr>
      <vt:lpstr>Tutorial: Squat Scanner Foundations of Cybersecurity</vt:lpstr>
      <vt:lpstr>Package Names Similarity: Is it Common? </vt:lpstr>
      <vt:lpstr>Package Names Similarity: Is it Common? </vt:lpstr>
      <vt:lpstr>Package Names Similarity: Is it Common? </vt:lpstr>
      <vt:lpstr>Package Names Similarity: Is it Common?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CAVIGLIONE</dc:creator>
  <cp:lastModifiedBy>LUCA CAVIGLIONE</cp:lastModifiedBy>
  <cp:revision>14</cp:revision>
  <dcterms:created xsi:type="dcterms:W3CDTF">2025-06-25T11:02:21Z</dcterms:created>
  <dcterms:modified xsi:type="dcterms:W3CDTF">2025-07-29T16:18:07Z</dcterms:modified>
</cp:coreProperties>
</file>